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4" r:id="rId6"/>
    <p:sldId id="265" r:id="rId7"/>
    <p:sldId id="262" r:id="rId8"/>
    <p:sldId id="260" r:id="rId9"/>
    <p:sldId id="261" r:id="rId10"/>
    <p:sldId id="26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4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BD462A-6F80-420B-ABF8-D02256E413D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7D473-02CD-4819-9250-313535045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931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27D473-02CD-4819-9250-313535045E1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134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9150C-1E0C-40CB-9EC8-9D708CDF0AC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B2B1-B6BB-46A1-9F42-4CF7F1766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27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9150C-1E0C-40CB-9EC8-9D708CDF0AC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B2B1-B6BB-46A1-9F42-4CF7F1766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755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9150C-1E0C-40CB-9EC8-9D708CDF0AC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B2B1-B6BB-46A1-9F42-4CF7F1766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065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9150C-1E0C-40CB-9EC8-9D708CDF0AC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B2B1-B6BB-46A1-9F42-4CF7F1766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598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9150C-1E0C-40CB-9EC8-9D708CDF0AC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B2B1-B6BB-46A1-9F42-4CF7F1766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728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9150C-1E0C-40CB-9EC8-9D708CDF0AC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B2B1-B6BB-46A1-9F42-4CF7F1766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3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9150C-1E0C-40CB-9EC8-9D708CDF0AC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B2B1-B6BB-46A1-9F42-4CF7F1766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921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9150C-1E0C-40CB-9EC8-9D708CDF0AC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B2B1-B6BB-46A1-9F42-4CF7F1766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69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9150C-1E0C-40CB-9EC8-9D708CDF0AC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B2B1-B6BB-46A1-9F42-4CF7F1766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618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9150C-1E0C-40CB-9EC8-9D708CDF0AC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B2B1-B6BB-46A1-9F42-4CF7F1766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88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9150C-1E0C-40CB-9EC8-9D708CDF0AC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B2B1-B6BB-46A1-9F42-4CF7F1766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335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9150C-1E0C-40CB-9EC8-9D708CDF0AC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CB2B1-B6BB-46A1-9F42-4CF7F1766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802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7.xml"/><Relationship Id="rId4" Type="http://schemas.openxmlformats.org/officeDocument/2006/relationships/slide" Target="slide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-208416"/>
            <a:ext cx="9144000" cy="2387600"/>
          </a:xfrm>
        </p:spPr>
        <p:txBody>
          <a:bodyPr>
            <a:normAutofit/>
          </a:bodyPr>
          <a:lstStyle/>
          <a:p>
            <a:r>
              <a:rPr lang="ru-RU" sz="5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в онлайн курсе</a:t>
            </a:r>
            <a:r>
              <a:rPr lang="en-US" sz="5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5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5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Progerbox</a:t>
            </a:r>
            <a:r>
              <a:rPr lang="en-US" sz="5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5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524000" y="3665764"/>
            <a:ext cx="3175907" cy="9144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hlinkClick r:id="rId3" action="ppaction://hlinksldjump"/>
          </p:cNvPr>
          <p:cNvSpPr/>
          <p:nvPr/>
        </p:nvSpPr>
        <p:spPr>
          <a:xfrm>
            <a:off x="7492093" y="3665764"/>
            <a:ext cx="3175907" cy="914400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Войти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72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083"/>
            <a:ext cx="12193411" cy="6863083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7493" y="913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5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</a:t>
            </a:r>
            <a:endParaRPr lang="ru-RU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80073" y="1657432"/>
            <a:ext cx="2559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Введите почту</a:t>
            </a:r>
            <a:r>
              <a:rPr lang="en-US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80075" y="2455451"/>
            <a:ext cx="2693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Введите пароль</a:t>
            </a:r>
            <a:r>
              <a:rPr lang="en-US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80075" y="3410133"/>
            <a:ext cx="436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Введите имя пользователя</a:t>
            </a:r>
            <a:r>
              <a:rPr lang="en-US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477801" y="2978206"/>
            <a:ext cx="7234985" cy="3401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123456789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4507339" y="5288539"/>
            <a:ext cx="3175907" cy="9144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Зарегистрироваться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477801" y="2180420"/>
            <a:ext cx="7234985" cy="3401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artem@gmail.com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477801" y="3959732"/>
            <a:ext cx="7234985" cy="3401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artem@gmail.com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31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965892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Поздравляю. Вы успешно зарегистрировались!</a:t>
            </a:r>
            <a:endParaRPr lang="ru-RU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2283756"/>
            <a:ext cx="10515600" cy="17258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Добро пожаловать на сайт!</a:t>
            </a:r>
            <a:endParaRPr lang="ru-RU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508045" y="3715215"/>
            <a:ext cx="3175907" cy="914400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Продолжить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833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5478" cy="6858000"/>
          </a:xfrm>
          <a:prstGeom prst="rect">
            <a:avLst/>
          </a:prstGeom>
        </p:spPr>
      </p:pic>
      <p:sp>
        <p:nvSpPr>
          <p:cNvPr id="7" name="Блок-схема: альтернативный процесс 6">
            <a:hlinkClick r:id="rId3" action="ppaction://hlinksldjump"/>
          </p:cNvPr>
          <p:cNvSpPr/>
          <p:nvPr/>
        </p:nvSpPr>
        <p:spPr>
          <a:xfrm>
            <a:off x="2126279" y="1868327"/>
            <a:ext cx="2049235" cy="996043"/>
          </a:xfrm>
          <a:prstGeom prst="flowChartAlternateProcess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Каталог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81375" y="301019"/>
            <a:ext cx="54292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Найди свою профессию в </a:t>
            </a:r>
            <a:endParaRPr lang="en-US" sz="3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Progerbox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Табличка 10">
            <a:hlinkClick r:id="rId4" action="ppaction://hlinksldjump"/>
          </p:cNvPr>
          <p:cNvSpPr/>
          <p:nvPr/>
        </p:nvSpPr>
        <p:spPr>
          <a:xfrm>
            <a:off x="10400263" y="301019"/>
            <a:ext cx="1314450" cy="914400"/>
          </a:xfrm>
          <a:prstGeom prst="plaqu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Подарок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34619" y="3809668"/>
            <a:ext cx="802219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Сделайте первый шаг к жизни вашей </a:t>
            </a:r>
            <a:r>
              <a:rPr lang="ru-RU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мечты!</a:t>
            </a:r>
            <a:endParaRPr lang="ru-RU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15" name="Блок-схема: альтернативный процесс 14">
            <a:hlinkClick r:id="rId5" action="ppaction://hlinksldjump"/>
          </p:cNvPr>
          <p:cNvSpPr/>
          <p:nvPr/>
        </p:nvSpPr>
        <p:spPr>
          <a:xfrm>
            <a:off x="8269902" y="1874318"/>
            <a:ext cx="2049235" cy="996043"/>
          </a:xfrm>
          <a:prstGeom prst="flowChartAlternateProces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Progerbox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Табличка 15"/>
          <p:cNvSpPr/>
          <p:nvPr/>
        </p:nvSpPr>
        <p:spPr>
          <a:xfrm>
            <a:off x="511807" y="382428"/>
            <a:ext cx="1383166" cy="914400"/>
          </a:xfrm>
          <a:prstGeom prst="plaqu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Промокод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Скругленный прямоугольник 1">
            <a:hlinkClick r:id="rId6" action="ppaction://hlinksldjump"/>
          </p:cNvPr>
          <p:cNvSpPr/>
          <p:nvPr/>
        </p:nvSpPr>
        <p:spPr>
          <a:xfrm>
            <a:off x="5119006" y="1842956"/>
            <a:ext cx="2027465" cy="99604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Бесплатно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86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9964"/>
            <a:ext cx="12193410" cy="6927963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08613" y="2428422"/>
            <a:ext cx="4173360" cy="410483"/>
          </a:xfrm>
        </p:spPr>
        <p:txBody>
          <a:bodyPr>
            <a:noAutofit/>
          </a:bodyPr>
          <a:lstStyle/>
          <a:p>
            <a:pPr algn="ctr"/>
            <a:r>
              <a:rPr lang="ru-RU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Введите </a:t>
            </a:r>
            <a:r>
              <a:rPr lang="ru-RU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промокод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841825" y="3184072"/>
            <a:ext cx="6506935" cy="349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BeginnerSummer2026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576484" y="3819591"/>
            <a:ext cx="7037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первой покупке действует </a:t>
            </a:r>
            <a:r>
              <a:rPr lang="ru-RU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промокод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“BeginnerSummer2026”, 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 дает скидку в 20% на все курсы)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hlinkClick r:id="rId3" action="ppaction://hlinksldjump"/>
          </p:cNvPr>
          <p:cNvSpPr/>
          <p:nvPr/>
        </p:nvSpPr>
        <p:spPr>
          <a:xfrm>
            <a:off x="2841825" y="4908522"/>
            <a:ext cx="2519666" cy="71845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Назад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hlinkClick r:id="rId4" action="ppaction://hlinksldjump"/>
          </p:cNvPr>
          <p:cNvSpPr/>
          <p:nvPr/>
        </p:nvSpPr>
        <p:spPr>
          <a:xfrm>
            <a:off x="6829094" y="4908522"/>
            <a:ext cx="2519666" cy="71845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Продолжить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5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77" y="1663246"/>
            <a:ext cx="10515600" cy="1325563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Активация </a:t>
            </a:r>
            <a:r>
              <a:rPr lang="ru-RU" dirty="0" err="1" smtClean="0">
                <a:solidFill>
                  <a:schemeClr val="bg1"/>
                </a:solidFill>
              </a:rPr>
              <a:t>промокода</a:t>
            </a:r>
            <a:r>
              <a:rPr lang="ru-RU" dirty="0" smtClean="0">
                <a:solidFill>
                  <a:schemeClr val="bg1"/>
                </a:solidFill>
              </a:rPr>
              <a:t> прошла успешно!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23849" y="3429000"/>
            <a:ext cx="66912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solidFill>
                  <a:schemeClr val="bg1"/>
                </a:solidFill>
              </a:rPr>
              <a:t>Вернуться на главную страницу, или ввести еще </a:t>
            </a:r>
            <a:r>
              <a:rPr lang="ru-RU" sz="2000" dirty="0" err="1" smtClean="0">
                <a:solidFill>
                  <a:schemeClr val="bg1"/>
                </a:solidFill>
              </a:rPr>
              <a:t>промокод</a:t>
            </a:r>
            <a:r>
              <a:rPr lang="en-US" sz="2000" dirty="0" smtClean="0">
                <a:solidFill>
                  <a:schemeClr val="bg1"/>
                </a:solidFill>
              </a:rPr>
              <a:t>?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>
            <a:hlinkClick r:id="rId3" action="ppaction://hlinksldjump"/>
          </p:cNvPr>
          <p:cNvSpPr/>
          <p:nvPr/>
        </p:nvSpPr>
        <p:spPr>
          <a:xfrm>
            <a:off x="2823849" y="4441370"/>
            <a:ext cx="2221680" cy="718458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Вернуться на 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главную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hlinkClick r:id="rId4" action="ppaction://hlinksldjump"/>
          </p:cNvPr>
          <p:cNvSpPr/>
          <p:nvPr/>
        </p:nvSpPr>
        <p:spPr>
          <a:xfrm>
            <a:off x="7293424" y="4441370"/>
            <a:ext cx="2221680" cy="718458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Ввести </a:t>
            </a:r>
            <a:r>
              <a:rPr lang="ru-RU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промокод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840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 нас</a:t>
            </a:r>
            <a:r>
              <a:rPr lang="ru-RU" dirty="0">
                <a:solidFill>
                  <a:schemeClr val="bg1"/>
                </a:solidFill>
              </a:rPr>
              <a:t/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96843" y="1182231"/>
            <a:ext cx="619831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Миссия </a:t>
            </a:r>
            <a:r>
              <a:rPr lang="en-US" sz="26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Proger</a:t>
            </a:r>
            <a:r>
              <a:rPr lang="ru-RU" sz="26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дать возможность каждому быть актуальным и востребованным специалистом прямо сейчас. Вне зависимости от возраста и географии.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2493" y="3373784"/>
            <a:ext cx="424701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 предлагаем большой выбор курсов для профессионального и личностного развития.</a:t>
            </a:r>
          </a:p>
        </p:txBody>
      </p:sp>
      <p:sp>
        <p:nvSpPr>
          <p:cNvPr id="7" name="Прямоугольник 6">
            <a:hlinkClick r:id="rId3" action="ppaction://hlinksldjump"/>
          </p:cNvPr>
          <p:cNvSpPr/>
          <p:nvPr/>
        </p:nvSpPr>
        <p:spPr>
          <a:xfrm>
            <a:off x="4836166" y="5693068"/>
            <a:ext cx="2519666" cy="71845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Назад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216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3411" cy="68580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905" y="599972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Каталог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Блок-схема: альтернативный процесс 5"/>
          <p:cNvSpPr/>
          <p:nvPr/>
        </p:nvSpPr>
        <p:spPr>
          <a:xfrm>
            <a:off x="1964871" y="2237844"/>
            <a:ext cx="2383972" cy="61264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Блок-схема: альтернативный процесс 6"/>
          <p:cNvSpPr/>
          <p:nvPr/>
        </p:nvSpPr>
        <p:spPr>
          <a:xfrm>
            <a:off x="1964871" y="4265970"/>
            <a:ext cx="2383972" cy="61264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Блок-схема: альтернативный процесс 7"/>
          <p:cNvSpPr/>
          <p:nvPr/>
        </p:nvSpPr>
        <p:spPr>
          <a:xfrm>
            <a:off x="1964871" y="3242136"/>
            <a:ext cx="2383972" cy="61264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Блок-схема: альтернативный процесс 8"/>
          <p:cNvSpPr/>
          <p:nvPr/>
        </p:nvSpPr>
        <p:spPr>
          <a:xfrm>
            <a:off x="7777841" y="2237844"/>
            <a:ext cx="2383972" cy="61264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Дизайн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Блок-схема: альтернативный процесс 9"/>
          <p:cNvSpPr/>
          <p:nvPr/>
        </p:nvSpPr>
        <p:spPr>
          <a:xfrm>
            <a:off x="7777841" y="4265970"/>
            <a:ext cx="2383972" cy="61264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Маркетинг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Блок-схема: альтернативный процесс 10"/>
          <p:cNvSpPr/>
          <p:nvPr/>
        </p:nvSpPr>
        <p:spPr>
          <a:xfrm>
            <a:off x="7777841" y="3242136"/>
            <a:ext cx="2383972" cy="61264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Игры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hlinkClick r:id="rId4" action="ppaction://hlinksldjump"/>
          </p:cNvPr>
          <p:cNvSpPr/>
          <p:nvPr/>
        </p:nvSpPr>
        <p:spPr>
          <a:xfrm>
            <a:off x="4836872" y="4996542"/>
            <a:ext cx="2519666" cy="71845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Назад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91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3410" cy="68580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Механика «Подарок» — увеличиваем конверсию в оплату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4961" y="1839459"/>
            <a:ext cx="290207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«Выбери бонус:»</a:t>
            </a:r>
          </a:p>
          <a:p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740277" y="2741020"/>
            <a:ext cx="4694464" cy="504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🎁 Сертификат на 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курс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740277" y="3792625"/>
            <a:ext cx="4694464" cy="504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🎁 1 час личной консультации с экспертом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740277" y="4865515"/>
            <a:ext cx="4694464" cy="504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🎁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PDF-«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Чек-лист запуска» </a:t>
            </a:r>
          </a:p>
        </p:txBody>
      </p:sp>
      <p:sp>
        <p:nvSpPr>
          <p:cNvPr id="10" name="Прямоугольник 9">
            <a:hlinkClick r:id="rId3" action="ppaction://hlinksldjump"/>
          </p:cNvPr>
          <p:cNvSpPr/>
          <p:nvPr/>
        </p:nvSpPr>
        <p:spPr>
          <a:xfrm>
            <a:off x="5097423" y="5779381"/>
            <a:ext cx="1981013" cy="564269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Назад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99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90695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Бесплатные категории для первоначального ознакомления с сайтом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4720318" y="2013914"/>
            <a:ext cx="2751364" cy="820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Профориентация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720318" y="3106170"/>
            <a:ext cx="2751364" cy="820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Вебинары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720318" y="4223996"/>
            <a:ext cx="2751364" cy="820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Медиа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hlinkClick r:id="rId3" action="ppaction://hlinksldjump"/>
          </p:cNvPr>
          <p:cNvSpPr/>
          <p:nvPr/>
        </p:nvSpPr>
        <p:spPr>
          <a:xfrm>
            <a:off x="4874078" y="5527221"/>
            <a:ext cx="2440933" cy="655704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Назад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09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165</Words>
  <Application>Microsoft Office PowerPoint</Application>
  <PresentationFormat>Широкоэкранный</PresentationFormat>
  <Paragraphs>56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Регистрация в онлайн курсе: “Progerbox”</vt:lpstr>
      <vt:lpstr>Регистрация</vt:lpstr>
      <vt:lpstr>Поздравляю. Вы успешно зарегистрировались!</vt:lpstr>
      <vt:lpstr>Презентация PowerPoint</vt:lpstr>
      <vt:lpstr>Введите промокод:</vt:lpstr>
      <vt:lpstr>Активация промокода прошла успешно!</vt:lpstr>
      <vt:lpstr>О нас </vt:lpstr>
      <vt:lpstr>Каталог</vt:lpstr>
      <vt:lpstr>Механика «Подарок» — увеличиваем конверсию в оплату</vt:lpstr>
      <vt:lpstr>Бесплатные категории для первоначального ознакомления с сайтом: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</dc:title>
  <dc:creator>User</dc:creator>
  <cp:lastModifiedBy>User</cp:lastModifiedBy>
  <cp:revision>15</cp:revision>
  <dcterms:created xsi:type="dcterms:W3CDTF">2026-05-19T10:24:39Z</dcterms:created>
  <dcterms:modified xsi:type="dcterms:W3CDTF">2026-05-20T08:54:22Z</dcterms:modified>
</cp:coreProperties>
</file>